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A575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4A5751"/>
                </a:solidFill>
                <a:latin typeface="Arial"/>
              </a:rPr>
              <a:t>Interações por período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Interações efetivas</c:v>
                </c:pt>
              </c:strCache>
            </c:strRef>
          </c:tx>
          <c:spPr>
            <a:solidFill>
              <a:srgbClr val="0069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fev</c:v>
                  </c:pt>
                  <c:pt idx="1">
                    <c:v>mar</c:v>
                  </c:pt>
                  <c:pt idx="2">
                    <c:v>abr/mai</c:v>
                  </c:pt>
                  <c:pt idx="3">
                    <c:v>jun</c:v>
                  </c:pt>
                  <c:pt idx="4">
                    <c:v>jul</c:v>
                  </c:pt>
                  <c:pt idx="5">
                    <c:v>ago*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53</c:v>
                </c:pt>
                <c:pt idx="4">
                  <c:v>772</c:v>
                </c:pt>
                <c:pt idx="5">
                  <c:v>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8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"/>
        </c:scaling>
        <c:delete val="0"/>
        <c:axPos val="l"/>
        <c:majorGridlines>
          <c:spPr>
            <a:ln w="6350" cap="flat">
              <a:solidFill>
                <a:srgbClr val="E3E7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8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estratégica do Canal RH WhatsApp. Dados: abr–ago/2026. Base: 3.868 registros.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 excluem diretoria RH (150 registros). 989 pessoas únicas. eNPS calculado com 372 respostas de pesquisa de satisfação (PESQUISA_SATISFACAO_02).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Jul/26 sem RH: 2.699 acessos, 772 interações (28,6% engajamento). Ago/26 parcial: 61 acessos, 47 interações (77% engajamento). Meta acumulada jul-dez: 6.000.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Pessoas: 989 únicas com interação, 469 com algum SI. 368 NUNCA interagiram. 2.266 registros SI sem flag_cadastrado — principal hipótese é falha de autenticação.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Benchmarks de mercado: Gartner HR Chatbot Survey 2024, Sapient Insights Group HR Systems Survey, análise de casos similares em agro e industrial.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5 pilares serão o esqueleto do painel HTML em construção. Cada pilar tem entre 2-4 KPIs monitorados na mesma janela de tempo (semana/mês/ano).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Ação 03 (autenticação) é a de maior impacto potencial. Se 2.266 registros sem identificação forem falhas de autenticação, corrigir isso multiplica o volume sem campanha.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H2 foca no produto e na expansão controlada. H3 é a virada de ativo para proativo — quando o bot passa a gerar demanda, não apenas atendê-la.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indicativo. Fase 1 é executável internamente. Fases 2 e 3 dependem de capacidade do fornecedor da plataforma e de integrações com sistemas corporativos.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ações concretas com dono e prazo. A ação 1 (autenticação) pode multiplicar o volume sem custo de campanha caso a hipótese se confirme.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C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5FB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RH · WHATSAPP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97280" y="192024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Evolução e</a:t>
            </a:r>
            <a:endParaRPr lang="en-US" sz="4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Gestão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97280" y="37490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B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· Estratégia de Crescimento · Roadmap de Produto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251960"/>
            <a:ext cx="11247120" cy="0"/>
          </a:xfrm>
          <a:prstGeom prst="line">
            <a:avLst/>
          </a:prstGeom>
          <a:noFill/>
          <a:ln w="9525">
            <a:solidFill>
              <a:srgbClr val="3A5E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4572000"/>
            <a:ext cx="3200400" cy="1097280"/>
          </a:xfrm>
          <a:prstGeom prst="rect">
            <a:avLst/>
          </a:prstGeom>
          <a:solidFill>
            <a:srgbClr val="3A5E56"/>
          </a:solidFill>
          <a:ln w="12700">
            <a:solidFill>
              <a:srgbClr val="3A5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46634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FB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989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51560" y="523036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únicas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atendidas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80560" y="4572000"/>
            <a:ext cx="3200400" cy="1097280"/>
          </a:xfrm>
          <a:prstGeom prst="rect">
            <a:avLst/>
          </a:prstGeom>
          <a:solidFill>
            <a:srgbClr val="3A5E56"/>
          </a:solidFill>
          <a:ln w="12700">
            <a:solidFill>
              <a:srgbClr val="3A5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46634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0" y="523036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Interações efetivas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abr–ago 2026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01000" y="4572000"/>
            <a:ext cx="3200400" cy="1097280"/>
          </a:xfrm>
          <a:prstGeom prst="rect">
            <a:avLst/>
          </a:prstGeom>
          <a:solidFill>
            <a:srgbClr val="3A5E56"/>
          </a:solidFill>
          <a:ln w="12700">
            <a:solidFill>
              <a:srgbClr val="3A5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46634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C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092440" y="523036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eNPS do canal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(meta: &gt; 50)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630936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2026  ·  RH Analytics  ·  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funciona — a pergunta é: chega em quem precisa?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abril a agosto de 2026 · excluída diretoria RH (equipe interna em testes)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47120" cy="0"/>
          </a:xfrm>
          <a:prstGeom prst="line">
            <a:avLst/>
          </a:prstGeom>
          <a:noFill/>
          <a:ln w="9525">
            <a:solidFill>
              <a:srgbClr val="E3E7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325880"/>
            <a:ext cx="2441448" cy="56784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C6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85216" y="1844345"/>
            <a:ext cx="2441448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únicas atendidas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9856" y="1325880"/>
            <a:ext cx="2441448" cy="56784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0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19856" y="1844345"/>
            <a:ext cx="2441448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interações efetivas no período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542032"/>
            <a:ext cx="2441448" cy="56784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7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85216" y="3060497"/>
            <a:ext cx="2441448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engajamento em julho (acessos → interação)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91840" y="2450592"/>
            <a:ext cx="2697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9856" y="2542032"/>
            <a:ext cx="2441448" cy="56784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5FB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eNPS 86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419856" y="3060497"/>
            <a:ext cx="2441448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satisfação do canal · 91% promotores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0" y="1234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mais buscados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1700784"/>
            <a:ext cx="4206240" cy="201168"/>
          </a:xfrm>
          <a:prstGeom prst="rect">
            <a:avLst/>
          </a:prstGeom>
          <a:solidFill>
            <a:srgbClr val="E3E7E0"/>
          </a:solidFill>
          <a:ln w="12700">
            <a:solidFill>
              <a:srgbClr val="E3E7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1700784"/>
            <a:ext cx="4206240" cy="201168"/>
          </a:xfrm>
          <a:prstGeom prst="rect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6184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auxiliar (em reclassificação)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652760" y="1682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2139696"/>
            <a:ext cx="4206240" cy="201168"/>
          </a:xfrm>
          <a:prstGeom prst="rect">
            <a:avLst/>
          </a:prstGeom>
          <a:solidFill>
            <a:srgbClr val="E3E7E0"/>
          </a:solidFill>
          <a:ln w="12700">
            <a:solidFill>
              <a:srgbClr val="E3E7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2139696"/>
            <a:ext cx="3107122" cy="201168"/>
          </a:xfrm>
          <a:prstGeom prst="rect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0574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Recrutamento interno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652760" y="212140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0" y="2578608"/>
            <a:ext cx="4206240" cy="201168"/>
          </a:xfrm>
          <a:prstGeom prst="rect">
            <a:avLst/>
          </a:prstGeom>
          <a:solidFill>
            <a:srgbClr val="E3E7E0"/>
          </a:solidFill>
          <a:ln w="12700">
            <a:solidFill>
              <a:srgbClr val="E3E7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2578608"/>
            <a:ext cx="2451879" cy="201168"/>
          </a:xfrm>
          <a:prstGeom prst="rect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4963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Saúde – Unimed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652760" y="25603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0" y="3017520"/>
            <a:ext cx="4206240" cy="201168"/>
          </a:xfrm>
          <a:prstGeom prst="rect">
            <a:avLst/>
          </a:prstGeom>
          <a:solidFill>
            <a:srgbClr val="E3E7E0"/>
          </a:solidFill>
          <a:ln w="12700">
            <a:solidFill>
              <a:srgbClr val="E3E7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3017520"/>
            <a:ext cx="1627540" cy="201168"/>
          </a:xfrm>
          <a:prstGeom prst="rect">
            <a:avLst/>
          </a:prstGeom>
          <a:solidFill>
            <a:srgbClr val="5FB35A"/>
          </a:solidFill>
          <a:ln w="12700">
            <a:solidFill>
              <a:srgbClr val="5FB3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293522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Férias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652760" y="299923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0" y="3456432"/>
            <a:ext cx="4206240" cy="201168"/>
          </a:xfrm>
          <a:prstGeom prst="rect">
            <a:avLst/>
          </a:prstGeom>
          <a:solidFill>
            <a:srgbClr val="E3E7E0"/>
          </a:solidFill>
          <a:ln w="12700">
            <a:solidFill>
              <a:srgbClr val="E3E7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3456432"/>
            <a:ext cx="1606403" cy="201168"/>
          </a:xfrm>
          <a:prstGeom prst="rect">
            <a:avLst/>
          </a:prstGeom>
          <a:solidFill>
            <a:srgbClr val="5FB35A"/>
          </a:solidFill>
          <a:ln w="12700">
            <a:solidFill>
              <a:srgbClr val="5FB3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33741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652760" y="343814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00800" y="3895344"/>
            <a:ext cx="4206240" cy="201168"/>
          </a:xfrm>
          <a:prstGeom prst="rect">
            <a:avLst/>
          </a:prstGeom>
          <a:solidFill>
            <a:srgbClr val="E3E7E0"/>
          </a:solidFill>
          <a:ln w="12700">
            <a:solidFill>
              <a:srgbClr val="E3E7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3895344"/>
            <a:ext cx="993434" cy="201168"/>
          </a:xfrm>
          <a:prstGeom prst="rect">
            <a:avLst/>
          </a:prstGeom>
          <a:solidFill>
            <a:srgbClr val="5FB35A"/>
          </a:solidFill>
          <a:ln w="12700">
            <a:solidFill>
              <a:srgbClr val="5FB3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38130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Flex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0652760" y="387705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00800" y="4334256"/>
            <a:ext cx="4206240" cy="201168"/>
          </a:xfrm>
          <a:prstGeom prst="rect">
            <a:avLst/>
          </a:prstGeom>
          <a:solidFill>
            <a:srgbClr val="E3E7E0"/>
          </a:solidFill>
          <a:ln w="12700">
            <a:solidFill>
              <a:srgbClr val="E3E7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0" y="4334256"/>
            <a:ext cx="718654" cy="201168"/>
          </a:xfrm>
          <a:prstGeom prst="rect">
            <a:avLst/>
          </a:prstGeom>
          <a:solidFill>
            <a:srgbClr val="5FB35A"/>
          </a:solidFill>
          <a:ln w="12700">
            <a:solidFill>
              <a:srgbClr val="5FB3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42519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Recrutamento externo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652760" y="431596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00800" y="4773168"/>
            <a:ext cx="4206240" cy="201168"/>
          </a:xfrm>
          <a:prstGeom prst="rect">
            <a:avLst/>
          </a:prstGeom>
          <a:solidFill>
            <a:srgbClr val="E3E7E0"/>
          </a:solidFill>
          <a:ln w="12700">
            <a:solidFill>
              <a:srgbClr val="E3E7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0" y="4773168"/>
            <a:ext cx="591833" cy="201168"/>
          </a:xfrm>
          <a:prstGeom prst="rect">
            <a:avLst/>
          </a:prstGeom>
          <a:solidFill>
            <a:srgbClr val="5FB35A"/>
          </a:solidFill>
          <a:ln w="12700">
            <a:solidFill>
              <a:srgbClr val="5FB3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46908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Odontológico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0652760" y="475488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00800" y="5212080"/>
            <a:ext cx="4206240" cy="201168"/>
          </a:xfrm>
          <a:prstGeom prst="rect">
            <a:avLst/>
          </a:prstGeom>
          <a:solidFill>
            <a:srgbClr val="E3E7E0"/>
          </a:solidFill>
          <a:ln w="12700">
            <a:solidFill>
              <a:srgbClr val="E3E7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00800" y="5212080"/>
            <a:ext cx="528422" cy="201168"/>
          </a:xfrm>
          <a:prstGeom prst="rect">
            <a:avLst/>
          </a:prstGeom>
          <a:solidFill>
            <a:srgbClr val="5FB35A"/>
          </a:solidFill>
          <a:ln w="12700">
            <a:solidFill>
              <a:srgbClr val="5FB35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512978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Saúde – Bradesco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0652760" y="519379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400800" y="5650992"/>
            <a:ext cx="4206240" cy="201168"/>
          </a:xfrm>
          <a:prstGeom prst="rect">
            <a:avLst/>
          </a:prstGeom>
          <a:solidFill>
            <a:srgbClr val="E3E7E0"/>
          </a:solidFill>
          <a:ln w="12700">
            <a:solidFill>
              <a:srgbClr val="E3E7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00800" y="5650992"/>
            <a:ext cx="465011" cy="201168"/>
          </a:xfrm>
          <a:prstGeom prst="rect">
            <a:avLst/>
          </a:prstGeom>
          <a:solidFill>
            <a:srgbClr val="5FB35A"/>
          </a:solidFill>
          <a:ln w="12700">
            <a:solidFill>
              <a:srgbClr val="5FB35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0" y="556869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Previdência Privada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0652760" y="563270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57200" y="621792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Florestal: 41%  ·  Industrial: 27%  ·  RH/Sustent.: 12%  ·  Outras: 20%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2026: 6.000 atendimentos — onde estamos e quanto falta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Referência: 1.000 atendimentos efetivos/mês · julho a dezembro de 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47120" cy="0"/>
          </a:xfrm>
          <a:prstGeom prst="line">
            <a:avLst/>
          </a:prstGeom>
          <a:noFill/>
          <a:ln w="9525">
            <a:solidFill>
              <a:srgbClr val="E3E7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Julho — melhor mês até agora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00" cy="475488"/>
          </a:xfrm>
          <a:prstGeom prst="rect">
            <a:avLst/>
          </a:prstGeom>
          <a:solidFill>
            <a:srgbClr val="E3E7E0"/>
          </a:solidFill>
          <a:ln w="12700">
            <a:solidFill>
              <a:srgbClr val="E3E7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4235501" cy="475488"/>
          </a:xfrm>
          <a:prstGeom prst="rect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6420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16916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1.000 (77,2%)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1691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54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+ 228 para a meta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26771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alavancas independentes para fechar o gap: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33472"/>
            <a:ext cx="2743200" cy="1371600"/>
          </a:xfrm>
          <a:prstGeom prst="rect">
            <a:avLst/>
          </a:prstGeom>
          <a:solidFill>
            <a:srgbClr val="F7F8F5"/>
          </a:solidFill>
          <a:ln w="9525">
            <a:solidFill>
              <a:srgbClr val="E3E7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2779776"/>
            <a:ext cx="384048" cy="384048"/>
          </a:xfrm>
          <a:prstGeom prst="ellipse">
            <a:avLst/>
          </a:prstGeom>
          <a:solidFill>
            <a:srgbClr val="1C6D96"/>
          </a:solidFill>
          <a:ln w="12700">
            <a:solidFill>
              <a:srgbClr val="1C6D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779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761488"/>
            <a:ext cx="197510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acessos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" y="3182112"/>
            <a:ext cx="24505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para diretorias sub-representadas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(Comercial, Jurídico, TI somam 12 interações no período)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2633472"/>
            <a:ext cx="2743200" cy="1371600"/>
          </a:xfrm>
          <a:prstGeom prst="rect">
            <a:avLst/>
          </a:prstGeom>
          <a:solidFill>
            <a:srgbClr val="F7F8F5"/>
          </a:solidFill>
          <a:ln w="9525">
            <a:solidFill>
              <a:srgbClr val="E3E7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02152" y="2779776"/>
            <a:ext cx="384048" cy="384048"/>
          </a:xfrm>
          <a:prstGeom prst="ellipse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2152" y="2779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77640" y="2761488"/>
            <a:ext cx="197510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conversão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02152" y="3182112"/>
            <a:ext cx="24505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 de 30% → 40% nos atuais 2.700 acessos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1.080 interações. A meta bate sem crescer o alcance.</a:t>
            </a:r>
            <a:endParaRPr lang="en-US" sz="10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217920" y="123444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6217920" y="2011680"/>
            <a:ext cx="5486400" cy="0"/>
          </a:xfrm>
          <a:prstGeom prst="line">
            <a:avLst/>
          </a:prstGeom>
          <a:noFill/>
          <a:ln w="19050">
            <a:solidFill>
              <a:srgbClr val="B54728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9326880" y="1828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54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1.000 / mês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4160520"/>
            <a:ext cx="5486400" cy="713232"/>
          </a:xfrm>
          <a:prstGeom prst="rect">
            <a:avLst/>
          </a:prstGeom>
          <a:solidFill>
            <a:srgbClr val="E4F0EA"/>
          </a:solidFill>
          <a:ln w="6350">
            <a:solidFill>
              <a:srgbClr val="E3E7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422452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parcial (3 dias): 47 interações em 61 acessos = 77% de engajamento.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mantiver esse ritmo, agosto pode ultrapassar a meta.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2362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agosto parcial (primeiros 3 dias)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de quem acessa sai sem interagir — mas não é tudo abandono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 de pessoas revela 3 grupos com causas e estratégias distintas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47120" cy="0"/>
          </a:xfrm>
          <a:prstGeom prst="line">
            <a:avLst/>
          </a:prstGeom>
          <a:noFill/>
          <a:ln w="9525">
            <a:solidFill>
              <a:srgbClr val="E3E7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3520440" cy="2103120"/>
          </a:xfrm>
          <a:prstGeom prst="rect">
            <a:avLst/>
          </a:prstGeom>
          <a:solidFill>
            <a:srgbClr val="F7E7E1"/>
          </a:solidFill>
          <a:ln w="12700">
            <a:solidFill>
              <a:srgbClr val="B547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89888"/>
            <a:ext cx="411480" cy="411480"/>
          </a:xfrm>
          <a:prstGeom prst="ellipse">
            <a:avLst/>
          </a:prstGeom>
          <a:solidFill>
            <a:srgbClr val="B54728"/>
          </a:solidFill>
          <a:ln w="12700">
            <a:solidFill>
              <a:srgbClr val="B547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898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35331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E3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18836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3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que NUNCA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8E3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interagiram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30428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3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Acessaram o bot pelo menos uma vez mas nunca chegaram a escolher um tema.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E3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prioritário de recuperação — são a maior alavanca de volume.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87952" y="1234440"/>
            <a:ext cx="3520440" cy="2103120"/>
          </a:xfrm>
          <a:prstGeom prst="rect">
            <a:avLst/>
          </a:prstGeom>
          <a:solidFill>
            <a:srgbClr val="FAF4D0"/>
          </a:solidFill>
          <a:ln w="12700">
            <a:solidFill>
              <a:srgbClr val="877C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1389888"/>
            <a:ext cx="411480" cy="411480"/>
          </a:xfrm>
          <a:prstGeom prst="ellipse">
            <a:avLst/>
          </a:prstGeom>
          <a:solidFill>
            <a:srgbClr val="877C00"/>
          </a:solidFill>
          <a:ln w="12700">
            <a:solidFill>
              <a:srgbClr val="877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13898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73752" y="135331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E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370832" y="18836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Voltaram 2+ vezes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6E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interagir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70832" y="230428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recorrente de abandono — sinal de frustração com o fluxo ou de tema ausente.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diagnóstico de UX antes de campanha.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918704" y="1234440"/>
            <a:ext cx="3520440" cy="2103120"/>
          </a:xfrm>
          <a:prstGeom prst="rect">
            <a:avLst/>
          </a:prstGeom>
          <a:solidFill>
            <a:srgbClr val="EDEFEA"/>
          </a:solidFill>
          <a:ln w="12700">
            <a:solidFill>
              <a:srgbClr val="E3E7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1584" y="1389888"/>
            <a:ext cx="411480" cy="411480"/>
          </a:xfrm>
          <a:prstGeom prst="ellipse">
            <a:avLst/>
          </a:prstGeom>
          <a:solidFill>
            <a:srgbClr val="6E7873"/>
          </a:solidFill>
          <a:ln w="12700">
            <a:solidFill>
              <a:srgbClr val="6E78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01584" y="13898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04504" y="135331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101584" y="18836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Tiveram SI 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interagiram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101584" y="230428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Abandono casual — em uma visita saíram sem interagir, em outra interagiram normalmente.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requer ação específica; acompanhar se o padrão muda.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11247120" cy="868680"/>
          </a:xfrm>
          <a:prstGeom prst="rect">
            <a:avLst/>
          </a:prstGeom>
          <a:solidFill>
            <a:srgbClr val="EAF3F9"/>
          </a:solidFill>
          <a:ln w="12700">
            <a:solidFill>
              <a:srgbClr val="1C6D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5844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6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Hipótese principal: 2.266 acessos sem identificação de colaborador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877056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grande maioria dos "Sem Interação" não tem flag_cadastrado preenchida — o colaborador pode não ter conseguido se autenticar no bot. Se o fluxo exige CPF ou matrícula antes de mostrar o menu e a pessoa errou ou não encontrou, ela sai sem interagir. Esta é a correção de maior impacto e deve ser investigada antes de qualquer campanha de reengajamento.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solidFill>
            <a:srgbClr val="E4F0EA"/>
          </a:solidFill>
          <a:ln w="6350">
            <a:solidFill>
              <a:srgbClr val="E3E7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6634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Contraponto positivo: quem chega a interagir fica satisfeito. eNPS 86, 91% promotores. O produto entrega — o desafio é levar mais pessoas ao uso efetivo.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537667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Abandono por turno: Manhã 1.610 · Tarde 996 · Noite 152 · Madrugada 28 — o pico de abandono coincide com o início do expediente. Investigar se há evento de RH (holerite, comunicado) que gera acesso concentrado.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 em relação ao mercado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Referência: chatbots de RH via WhatsApp, empresas com +500 colaboradores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47120" cy="0"/>
          </a:xfrm>
          <a:prstGeom prst="line">
            <a:avLst/>
          </a:prstGeom>
          <a:noFill/>
          <a:ln w="9525">
            <a:solidFill>
              <a:srgbClr val="E3E7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07008"/>
            <a:ext cx="3931920" cy="475488"/>
          </a:xfrm>
          <a:prstGeom prst="rect">
            <a:avLst/>
          </a:prstGeom>
          <a:solidFill>
            <a:srgbClr val="2E4C46"/>
          </a:solidFill>
          <a:ln w="12700">
            <a:solidFill>
              <a:srgbClr val="2E4C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3444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434840" y="1207008"/>
            <a:ext cx="1645920" cy="475488"/>
          </a:xfrm>
          <a:prstGeom prst="rect">
            <a:avLst/>
          </a:prstGeom>
          <a:solidFill>
            <a:srgbClr val="2E4C46"/>
          </a:solidFill>
          <a:ln w="12700">
            <a:solidFill>
              <a:srgbClr val="2E4C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07992" y="123444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meses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26480" y="1207008"/>
            <a:ext cx="1737360" cy="475488"/>
          </a:xfrm>
          <a:prstGeom prst="rect">
            <a:avLst/>
          </a:prstGeom>
          <a:solidFill>
            <a:srgbClr val="2E4C46"/>
          </a:solidFill>
          <a:ln w="12700">
            <a:solidFill>
              <a:srgbClr val="2E4C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1234440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meses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909560" y="1207008"/>
            <a:ext cx="1645920" cy="475488"/>
          </a:xfrm>
          <a:prstGeom prst="rect">
            <a:avLst/>
          </a:prstGeom>
          <a:solidFill>
            <a:srgbClr val="2E4C46"/>
          </a:solidFill>
          <a:ln w="12700">
            <a:solidFill>
              <a:srgbClr val="2E4C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82712" y="123444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601200" y="1207008"/>
            <a:ext cx="2606040" cy="475488"/>
          </a:xfrm>
          <a:prstGeom prst="rect">
            <a:avLst/>
          </a:prstGeom>
          <a:solidFill>
            <a:srgbClr val="2E4C46"/>
          </a:solidFill>
          <a:ln w="12700">
            <a:solidFill>
              <a:srgbClr val="2E4C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74352" y="123444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1682496"/>
            <a:ext cx="11247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71907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engajamento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201168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esperado para mês 2–3 de operação real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07992" y="186537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20–35%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99632" y="18653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45–65%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82712" y="1828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738360" y="1865376"/>
            <a:ext cx="2331720" cy="274320"/>
          </a:xfrm>
          <a:prstGeom prst="rect">
            <a:avLst/>
          </a:prstGeom>
          <a:solidFill>
            <a:srgbClr val="F0F8F4"/>
          </a:solidFill>
          <a:ln w="12700">
            <a:solidFill>
              <a:srgbClr val="F0F8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38360" y="18653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Esperado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340864"/>
            <a:ext cx="11247120" cy="658368"/>
          </a:xfrm>
          <a:prstGeom prst="rect">
            <a:avLst/>
          </a:prstGeom>
          <a:solidFill>
            <a:srgbClr val="F7F8F5"/>
          </a:solidFill>
          <a:ln w="6350">
            <a:solidFill>
              <a:srgbClr val="E3E7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37744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automática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267004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Excepcional — sugere base de conhecimento muito bem calibrada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07992" y="252374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70–85%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9632" y="252374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85–95%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82712" y="24871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99,1%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738360" y="2523744"/>
            <a:ext cx="2331720" cy="274320"/>
          </a:xfrm>
          <a:prstGeom prst="rect">
            <a:avLst/>
          </a:prstGeom>
          <a:solidFill>
            <a:srgbClr val="E4F0EA"/>
          </a:solidFill>
          <a:ln w="12700">
            <a:solidFill>
              <a:srgbClr val="E4F0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38360" y="252374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Destaque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999232"/>
            <a:ext cx="11247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03580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eNPS do canal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332841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de mercado — quem usa, aprova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07992" y="318211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99632" y="318211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55–75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82712" y="314553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738360" y="3182112"/>
            <a:ext cx="2331720" cy="274320"/>
          </a:xfrm>
          <a:prstGeom prst="rect">
            <a:avLst/>
          </a:prstGeom>
          <a:solidFill>
            <a:srgbClr val="E4F0EA"/>
          </a:solidFill>
          <a:ln w="12700">
            <a:solidFill>
              <a:srgbClr val="E4F0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38360" y="318211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Destaque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657600"/>
            <a:ext cx="11247120" cy="658368"/>
          </a:xfrm>
          <a:prstGeom prst="rect">
            <a:avLst/>
          </a:prstGeom>
          <a:solidFill>
            <a:srgbClr val="F7F8F5"/>
          </a:solidFill>
          <a:ln w="6350">
            <a:solidFill>
              <a:srgbClr val="E3E7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694176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resposta NPS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398678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esperado; cresce com a maturidade do canal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507992" y="38404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5–12%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199632" y="38404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982712" y="380390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9,6%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738360" y="3840480"/>
            <a:ext cx="2331720" cy="274320"/>
          </a:xfrm>
          <a:prstGeom prst="rect">
            <a:avLst/>
          </a:prstGeom>
          <a:solidFill>
            <a:srgbClr val="F0F8F4"/>
          </a:solidFill>
          <a:ln w="12700">
            <a:solidFill>
              <a:srgbClr val="F0F8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38360" y="3840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Esperado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315968"/>
            <a:ext cx="11247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435254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(% workforce)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48640" y="464515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Estimativa: headcount real não disponível. Principal alavanca de crescimento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507992" y="449884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5–15%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199632" y="449884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982712" y="44622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~3%*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9738360" y="4498848"/>
            <a:ext cx="2331720" cy="274320"/>
          </a:xfrm>
          <a:prstGeom prst="rect">
            <a:avLst/>
          </a:prstGeom>
          <a:solidFill>
            <a:srgbClr val="FAF4D0"/>
          </a:solidFill>
          <a:ln w="12700">
            <a:solidFill>
              <a:srgbClr val="FAF4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38360" y="44988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Atenção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" y="4974336"/>
            <a:ext cx="11247120" cy="658368"/>
          </a:xfrm>
          <a:prstGeom prst="rect">
            <a:avLst/>
          </a:prstGeom>
          <a:solidFill>
            <a:srgbClr val="F7F8F5"/>
          </a:solidFill>
          <a:ln w="6350">
            <a:solidFill>
              <a:srgbClr val="E3E7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501091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volume/mês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48640" y="530352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Julho: 772 de 1.000. Crescimento acelerado de jun→jul (+13×)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507992" y="515721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199632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982712" y="5120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77,2%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9738360" y="5157216"/>
            <a:ext cx="2331720" cy="274320"/>
          </a:xfrm>
          <a:prstGeom prst="rect">
            <a:avLst/>
          </a:prstGeom>
          <a:solidFill>
            <a:srgbClr val="FAF4D0"/>
          </a:solidFill>
          <a:ln w="12700">
            <a:solidFill>
              <a:srgbClr val="FAF4D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738360" y="515721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Atenção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Estimativa baseada em 989 usuários únicos — headcount total não informado.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pilares para medir o sucesso do produto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de gestão organiza esses indicadores com filtro por empresa, diretoria, área e janela de tempo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47120" cy="0"/>
          </a:xfrm>
          <a:prstGeom prst="line">
            <a:avLst/>
          </a:prstGeom>
          <a:noFill/>
          <a:ln w="9525">
            <a:solidFill>
              <a:srgbClr val="E3E7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61872"/>
            <a:ext cx="3611880" cy="2377440"/>
          </a:xfrm>
          <a:prstGeom prst="rect">
            <a:avLst/>
          </a:prstGeom>
          <a:solidFill>
            <a:srgbClr val="F7F8F5"/>
          </a:solidFill>
          <a:ln w="12700">
            <a:solidFill>
              <a:srgbClr val="E3E7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61872"/>
            <a:ext cx="3611880" cy="54864"/>
          </a:xfrm>
          <a:prstGeom prst="rect">
            <a:avLst/>
          </a:prstGeom>
          <a:solidFill>
            <a:srgbClr val="1C6D96"/>
          </a:solidFill>
          <a:ln w="12700">
            <a:solidFill>
              <a:srgbClr val="1C6D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380744"/>
            <a:ext cx="365760" cy="365760"/>
          </a:xfrm>
          <a:prstGeom prst="ellipse">
            <a:avLst/>
          </a:prstGeom>
          <a:solidFill>
            <a:srgbClr val="1C6D96"/>
          </a:solidFill>
          <a:ln w="12700">
            <a:solidFill>
              <a:srgbClr val="1C6D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380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0704" y="1408176"/>
            <a:ext cx="2898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84708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Atendimentos no mês vs meta 1.000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5798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Atendimentos acumulados vs meta 6.000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Projeção para fechamento do ano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" y="3227832"/>
            <a:ext cx="3337560" cy="274320"/>
          </a:xfrm>
          <a:prstGeom prst="rect">
            <a:avLst/>
          </a:prstGeom>
          <a:solidFill>
            <a:srgbClr val="E4F0EA"/>
          </a:solidFill>
          <a:ln w="6350">
            <a:solidFill>
              <a:srgbClr val="E3E7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236976"/>
            <a:ext cx="3282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Jul: 772 atend. (77% da meta)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06240" y="1261872"/>
            <a:ext cx="3611880" cy="2377440"/>
          </a:xfrm>
          <a:prstGeom prst="rect">
            <a:avLst/>
          </a:prstGeom>
          <a:solidFill>
            <a:srgbClr val="F7F8F5"/>
          </a:solidFill>
          <a:ln w="12700">
            <a:solidFill>
              <a:srgbClr val="E3E7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1261872"/>
            <a:ext cx="3611880" cy="54864"/>
          </a:xfrm>
          <a:prstGeom prst="rect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1688" y="1380744"/>
            <a:ext cx="365760" cy="365760"/>
          </a:xfrm>
          <a:prstGeom prst="ellipse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1688" y="1380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9744" y="1408176"/>
            <a:ext cx="2898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0" y="184708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Taxa de engajamento: interações ÷ acessos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0" y="215798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Pessoas únicas atendidas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89120" y="24688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Taxa de reuso (voltou ≥ 2×)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61688" y="3227832"/>
            <a:ext cx="3337560" cy="274320"/>
          </a:xfrm>
          <a:prstGeom prst="rect">
            <a:avLst/>
          </a:prstGeom>
          <a:solidFill>
            <a:srgbClr val="E4F0EA"/>
          </a:solidFill>
          <a:ln w="6350">
            <a:solidFill>
              <a:srgbClr val="E3E7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7408" y="3236976"/>
            <a:ext cx="3282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Jul: 29% de engajamento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955280" y="1261872"/>
            <a:ext cx="3749040" cy="2377440"/>
          </a:xfrm>
          <a:prstGeom prst="rect">
            <a:avLst/>
          </a:prstGeom>
          <a:solidFill>
            <a:srgbClr val="F7F8F5"/>
          </a:solidFill>
          <a:ln w="12700">
            <a:solidFill>
              <a:srgbClr val="E3E7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1261872"/>
            <a:ext cx="3749040" cy="54864"/>
          </a:xfrm>
          <a:prstGeom prst="rect">
            <a:avLst/>
          </a:prstGeom>
          <a:solidFill>
            <a:srgbClr val="5FB35A"/>
          </a:solidFill>
          <a:ln w="12700">
            <a:solidFill>
              <a:srgbClr val="5FB3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10728" y="1380744"/>
            <a:ext cx="365760" cy="365760"/>
          </a:xfrm>
          <a:prstGeom prst="ellipse">
            <a:avLst/>
          </a:prstGeom>
          <a:solidFill>
            <a:srgbClr val="5FB35A"/>
          </a:solidFill>
          <a:ln w="12700">
            <a:solidFill>
              <a:srgbClr val="5FB3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1380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58784" y="1408176"/>
            <a:ext cx="3035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Efetividade da IA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38160" y="184708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Taxa de resolução automática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138160" y="215798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Taxa de transferência para humano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138160" y="246888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Taxa 'Sem Interação' por turno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10728" y="3227832"/>
            <a:ext cx="3474720" cy="274320"/>
          </a:xfrm>
          <a:prstGeom prst="rect">
            <a:avLst/>
          </a:prstGeom>
          <a:solidFill>
            <a:srgbClr val="E4F0EA"/>
          </a:solidFill>
          <a:ln w="6350">
            <a:solidFill>
              <a:srgbClr val="E3E7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56448" y="3236976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99,1% resolução automática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417320" y="3776472"/>
            <a:ext cx="4160520" cy="2423160"/>
          </a:xfrm>
          <a:prstGeom prst="rect">
            <a:avLst/>
          </a:prstGeom>
          <a:solidFill>
            <a:srgbClr val="F7F8F5"/>
          </a:solidFill>
          <a:ln w="12700">
            <a:solidFill>
              <a:srgbClr val="E3E7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17320" y="3776472"/>
            <a:ext cx="4160520" cy="54864"/>
          </a:xfrm>
          <a:prstGeom prst="rect">
            <a:avLst/>
          </a:prstGeom>
          <a:solidFill>
            <a:srgbClr val="877C00"/>
          </a:solidFill>
          <a:ln w="12700">
            <a:solidFill>
              <a:srgbClr val="877C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72768" y="3895344"/>
            <a:ext cx="365760" cy="365760"/>
          </a:xfrm>
          <a:prstGeom prst="ellipse">
            <a:avLst/>
          </a:prstGeom>
          <a:solidFill>
            <a:srgbClr val="877C00"/>
          </a:solidFill>
          <a:ln w="12700">
            <a:solidFill>
              <a:srgbClr val="877C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72768" y="3895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020824" y="3922776"/>
            <a:ext cx="3447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Satisfação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600200" y="43616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eNPS do canal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600200" y="46725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% Promotores / Neutros / Detratores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600200" y="4983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Taxa de resposta da pesquisa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572768" y="5788152"/>
            <a:ext cx="3886200" cy="274320"/>
          </a:xfrm>
          <a:prstGeom prst="rect">
            <a:avLst/>
          </a:prstGeom>
          <a:solidFill>
            <a:srgbClr val="E4F0EA"/>
          </a:solidFill>
          <a:ln w="6350">
            <a:solidFill>
              <a:srgbClr val="E3E7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18488" y="5797296"/>
            <a:ext cx="3831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eNPS 86 · 91% promotores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715000" y="3776472"/>
            <a:ext cx="4160520" cy="2423160"/>
          </a:xfrm>
          <a:prstGeom prst="rect">
            <a:avLst/>
          </a:prstGeom>
          <a:solidFill>
            <a:srgbClr val="F7F8F5"/>
          </a:solidFill>
          <a:ln w="12700">
            <a:solidFill>
              <a:srgbClr val="E3E7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15000" y="3776472"/>
            <a:ext cx="4160520" cy="54864"/>
          </a:xfrm>
          <a:prstGeom prst="rect">
            <a:avLst/>
          </a:prstGeom>
          <a:solidFill>
            <a:srgbClr val="B54728"/>
          </a:solidFill>
          <a:ln w="12700">
            <a:solidFill>
              <a:srgbClr val="B5472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70448" y="3895344"/>
            <a:ext cx="365760" cy="365760"/>
          </a:xfrm>
          <a:prstGeom prst="ellipse">
            <a:avLst/>
          </a:prstGeom>
          <a:solidFill>
            <a:srgbClr val="B54728"/>
          </a:solidFill>
          <a:ln w="12700">
            <a:solidFill>
              <a:srgbClr val="B547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70448" y="3895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318504" y="3922776"/>
            <a:ext cx="3447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897880" y="43616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% diretorias com uso efetivo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897880" y="46725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Top temas por volume e crescimento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897880" y="4983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Penetração por área e cargo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870448" y="5788152"/>
            <a:ext cx="3886200" cy="274320"/>
          </a:xfrm>
          <a:prstGeom prst="rect">
            <a:avLst/>
          </a:prstGeom>
          <a:solidFill>
            <a:srgbClr val="E4F0EA"/>
          </a:solidFill>
          <a:ln w="6350">
            <a:solidFill>
              <a:srgbClr val="E3E7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16168" y="5797296"/>
            <a:ext cx="3831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 11 diretorias ativas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1 — Esta semana (ação imediata, sem mexer no produto)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estimado: +70 a 110 interações em 2 semanas · Custo: comunicação interna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47120" cy="0"/>
          </a:xfrm>
          <a:prstGeom prst="line">
            <a:avLst/>
          </a:prstGeom>
          <a:noFill/>
          <a:ln w="9525">
            <a:solidFill>
              <a:srgbClr val="E3E7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61872"/>
            <a:ext cx="356616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B547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61872"/>
            <a:ext cx="3566160" cy="73152"/>
          </a:xfrm>
          <a:prstGeom prst="rect">
            <a:avLst/>
          </a:prstGeom>
          <a:solidFill>
            <a:srgbClr val="B54728"/>
          </a:solidFill>
          <a:ln w="12700">
            <a:solidFill>
              <a:srgbClr val="B547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99032"/>
            <a:ext cx="411480" cy="411480"/>
          </a:xfrm>
          <a:prstGeom prst="ellipse">
            <a:avLst/>
          </a:prstGeom>
          <a:solidFill>
            <a:srgbClr val="B54728"/>
          </a:solidFill>
          <a:ln w="12700">
            <a:solidFill>
              <a:srgbClr val="B547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99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33856" y="1426464"/>
            <a:ext cx="276148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reengajamento direto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90195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54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RH Analytics + Comunicação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212140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Semana 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2395728"/>
            <a:ext cx="3246120" cy="0"/>
          </a:xfrm>
          <a:prstGeom prst="line">
            <a:avLst/>
          </a:prstGeom>
          <a:noFill/>
          <a:ln w="6350">
            <a:solidFill>
              <a:srgbClr val="E3E7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87168"/>
            <a:ext cx="3291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as 368 pessoas que acessaram mas nunca interagiram. Enviar mensagem via WhatsApp: "Você visitou nosso canal de RH. Quer saber o que consigo responder?" + lista dos 5 temas mais buscados.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esperada: 20–30% → 70 a 110 novas interações.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5760720"/>
            <a:ext cx="1371600" cy="274320"/>
          </a:xfrm>
          <a:prstGeom prst="rect">
            <a:avLst/>
          </a:prstGeom>
          <a:solidFill>
            <a:srgbClr val="E4F0EA"/>
          </a:solidFill>
          <a:ln w="12700">
            <a:solidFill>
              <a:srgbClr val="E4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760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51960" y="1261872"/>
            <a:ext cx="356616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9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1261872"/>
            <a:ext cx="3566160" cy="73152"/>
          </a:xfrm>
          <a:prstGeom prst="rect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1399032"/>
            <a:ext cx="411480" cy="411480"/>
          </a:xfrm>
          <a:prstGeom prst="ellipse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1399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28616" y="1426464"/>
            <a:ext cx="276148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Líderes florestais como multiplicadores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190195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GHRP + Liderança Florestal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34840" y="212140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Semana 1–2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434840" y="2395728"/>
            <a:ext cx="3246120" cy="0"/>
          </a:xfrm>
          <a:prstGeom prst="line">
            <a:avLst/>
          </a:prstGeom>
          <a:noFill/>
          <a:ln w="6350">
            <a:solidFill>
              <a:srgbClr val="E3E7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2487168"/>
            <a:ext cx="3291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líderes florestais já usam o canal — são o melhor canal de divulgação para suas equipes (388 colaboradores em Silvicultura, Colheita, etc.).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pauta de 2 min na próxima reunião de equipe + mensagem modelo para o líder replicar no grupo do WhatsApp da área.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34840" y="5760720"/>
            <a:ext cx="1371600" cy="274320"/>
          </a:xfrm>
          <a:prstGeom prst="rect">
            <a:avLst/>
          </a:prstGeom>
          <a:solidFill>
            <a:srgbClr val="E4F0EA"/>
          </a:solidFill>
          <a:ln w="12700">
            <a:solidFill>
              <a:srgbClr val="E4F0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5760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046720" y="1261872"/>
            <a:ext cx="356616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6D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0" y="1261872"/>
            <a:ext cx="3566160" cy="73152"/>
          </a:xfrm>
          <a:prstGeom prst="rect">
            <a:avLst/>
          </a:prstGeom>
          <a:solidFill>
            <a:srgbClr val="1C6D96"/>
          </a:solidFill>
          <a:ln w="12700">
            <a:solidFill>
              <a:srgbClr val="1C6D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0" y="1399032"/>
            <a:ext cx="411480" cy="411480"/>
          </a:xfrm>
          <a:prstGeom prst="ellipse">
            <a:avLst/>
          </a:prstGeom>
          <a:solidFill>
            <a:srgbClr val="1C6D96"/>
          </a:solidFill>
          <a:ln w="12700">
            <a:solidFill>
              <a:srgbClr val="1C6D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1399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23376" y="1426464"/>
            <a:ext cx="276148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o gargalo de autenticação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0" y="190195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6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TI + Plataforma do chatbot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29600" y="212140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Semana 1–2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229600" y="2395728"/>
            <a:ext cx="3246120" cy="0"/>
          </a:xfrm>
          <a:prstGeom prst="line">
            <a:avLst/>
          </a:prstGeom>
          <a:noFill/>
          <a:ln w="6350">
            <a:solidFill>
              <a:srgbClr val="E3E7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0" y="2487168"/>
            <a:ext cx="3291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2.266 dos registros "Sem Interação" não têm colaborador identificado. Verificar: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 bot exige CPF/matrícula antes de mostrar o menu?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Qual % falha na autenticação?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É possível oferecer menu inicial sem autenticação?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confirmado: correção de autenticação &gt; qualquer campanha.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229600" y="5760720"/>
            <a:ext cx="1371600" cy="274320"/>
          </a:xfrm>
          <a:prstGeom prst="rect">
            <a:avLst/>
          </a:prstGeom>
          <a:solidFill>
            <a:srgbClr val="F7E7E1"/>
          </a:solidFill>
          <a:ln w="12700">
            <a:solidFill>
              <a:srgbClr val="F7E7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5760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3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Horizontes 2 e 3 — Produto e escala (próximos 2 meses)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11247120" cy="0"/>
          </a:xfrm>
          <a:prstGeom prst="line">
            <a:avLst/>
          </a:prstGeom>
          <a:noFill/>
          <a:ln w="9525">
            <a:solidFill>
              <a:srgbClr val="E3E7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155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6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2 — Curto prazo (4 semanas)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08176"/>
            <a:ext cx="37033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08176"/>
            <a:ext cx="54864" cy="2286000"/>
          </a:xfrm>
          <a:prstGeom prst="rect">
            <a:avLst/>
          </a:prstGeom>
          <a:solidFill>
            <a:srgbClr val="1C6D96"/>
          </a:solidFill>
          <a:ln w="12700">
            <a:solidFill>
              <a:srgbClr val="1C6D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17904"/>
            <a:ext cx="347472" cy="347472"/>
          </a:xfrm>
          <a:prstGeom prst="ellipse">
            <a:avLst/>
          </a:prstGeom>
          <a:solidFill>
            <a:srgbClr val="1C6D96"/>
          </a:solidFill>
          <a:ln w="12700">
            <a:solidFill>
              <a:srgbClr val="1C6D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179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0704" y="1527048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de UX no fluxo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60704" y="1847088"/>
            <a:ext cx="2990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6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· Semanas 2–4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2139696"/>
            <a:ext cx="341071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o ponto exato de abandono: é na tela inicial? Após escolher o tema? Após a resposta?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onde o bot perde a pessoa antes de qualquer redesenho.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61688" y="1408176"/>
            <a:ext cx="37033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1688" y="1408176"/>
            <a:ext cx="54864" cy="2286000"/>
          </a:xfrm>
          <a:prstGeom prst="rect">
            <a:avLst/>
          </a:prstGeom>
          <a:solidFill>
            <a:srgbClr val="1C6D96"/>
          </a:solidFill>
          <a:ln w="12700">
            <a:solidFill>
              <a:srgbClr val="1C6D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44568" y="1517904"/>
            <a:ext cx="347472" cy="347472"/>
          </a:xfrm>
          <a:prstGeom prst="ellipse">
            <a:avLst/>
          </a:prstGeom>
          <a:solidFill>
            <a:srgbClr val="1C6D96"/>
          </a:solidFill>
          <a:ln w="12700">
            <a:solidFill>
              <a:srgbClr val="1C6D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5179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5192" y="1527048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da base de temas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65192" y="1847088"/>
            <a:ext cx="2990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6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· Semanas 3–5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44568" y="2139696"/>
            <a:ext cx="341071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 que as pessoas buscam que não está no menu. Survey com as 368 do grupo-alvo + análise de mensagens livres.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Prioridade: temas com &gt;20 buscas sem resposta.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266176" y="1408176"/>
            <a:ext cx="37033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6176" y="1408176"/>
            <a:ext cx="54864" cy="2286000"/>
          </a:xfrm>
          <a:prstGeom prst="rect">
            <a:avLst/>
          </a:prstGeom>
          <a:solidFill>
            <a:srgbClr val="1C6D96"/>
          </a:solidFill>
          <a:ln w="12700">
            <a:solidFill>
              <a:srgbClr val="1C6D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49056" y="1517904"/>
            <a:ext cx="347472" cy="347472"/>
          </a:xfrm>
          <a:prstGeom prst="ellipse">
            <a:avLst/>
          </a:prstGeom>
          <a:solidFill>
            <a:srgbClr val="1C6D96"/>
          </a:solidFill>
          <a:ln w="12700">
            <a:solidFill>
              <a:srgbClr val="1C6D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49056" y="15179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0" y="1527048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por diretoria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869680" y="1847088"/>
            <a:ext cx="2990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6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· Semana 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449056" y="2139696"/>
            <a:ext cx="341071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Comercial, Jurídico e TI somam 12 interações no período todo. Campanha específica com o BP de RH de cada área, usando dados reais de acesso.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3547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3 — Médio prazo (2 meses)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37033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840480"/>
            <a:ext cx="54864" cy="2286000"/>
          </a:xfrm>
          <a:prstGeom prst="rect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3950208"/>
            <a:ext cx="347472" cy="347472"/>
          </a:xfrm>
          <a:prstGeom prst="ellipse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950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60704" y="3959352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proativas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60704" y="4279392"/>
            <a:ext cx="2990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· Mês 2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0080" y="4572000"/>
            <a:ext cx="341071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ativo, não só reativo. Evento → mensagem.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"Sua férias foi aprovada — quer os detalhes?"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notificação relevante gera uma interação que hoje não existe.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61688" y="3840480"/>
            <a:ext cx="37033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61688" y="3840480"/>
            <a:ext cx="54864" cy="2286000"/>
          </a:xfrm>
          <a:prstGeom prst="rect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44568" y="3950208"/>
            <a:ext cx="347472" cy="347472"/>
          </a:xfrm>
          <a:prstGeom prst="ellipse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44568" y="3950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65192" y="3959352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de RH como gatilho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65192" y="4279392"/>
            <a:ext cx="2990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· Mês 2–3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44568" y="4572000"/>
            <a:ext cx="341071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Recadastramento de benefícios, holerite, abertura de vagas internas — cada evento é um pico de demanda previsível.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RH → pauta de notificações do bot.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66176" y="3840480"/>
            <a:ext cx="37033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66176" y="3840480"/>
            <a:ext cx="54864" cy="2286000"/>
          </a:xfrm>
          <a:prstGeom prst="rect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49056" y="3950208"/>
            <a:ext cx="347472" cy="347472"/>
          </a:xfrm>
          <a:prstGeom prst="ellipse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49056" y="3950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869680" y="3959352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self-service para líderes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869680" y="4279392"/>
            <a:ext cx="29900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· Mês 3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449056" y="4572000"/>
            <a:ext cx="341071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Líderes de área com acesso ao painel para acompanhar o uso da equipe, os temas mais buscados e o NPS da área.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o engajamento da liderança com o canal.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4C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da plataforma — o caminho para a consolidação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B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fases · da estabilização à excelência operacional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47120" cy="0"/>
          </a:xfrm>
          <a:prstGeom prst="line">
            <a:avLst/>
          </a:prstGeom>
          <a:noFill/>
          <a:ln w="9525">
            <a:solidFill>
              <a:srgbClr val="3A5E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200400"/>
            <a:ext cx="10698480" cy="0"/>
          </a:xfrm>
          <a:prstGeom prst="line">
            <a:avLst/>
          </a:prstGeom>
          <a:noFill/>
          <a:ln w="25400">
            <a:solidFill>
              <a:srgbClr val="3A5E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31720" y="1828800"/>
            <a:ext cx="0" cy="1371600"/>
          </a:xfrm>
          <a:prstGeom prst="line">
            <a:avLst/>
          </a:prstGeom>
          <a:noFill/>
          <a:ln w="19050">
            <a:solidFill>
              <a:srgbClr val="5FB3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21992" y="3090672"/>
            <a:ext cx="219456" cy="219456"/>
          </a:xfrm>
          <a:prstGeom prst="ellipse">
            <a:avLst/>
          </a:prstGeom>
          <a:solidFill>
            <a:srgbClr val="5FB35A"/>
          </a:solidFill>
          <a:ln w="12700">
            <a:solidFill>
              <a:srgbClr val="5FB3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83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B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 – Set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3566160" cy="1920240"/>
          </a:xfrm>
          <a:prstGeom prst="rect">
            <a:avLst/>
          </a:prstGeom>
          <a:solidFill>
            <a:srgbClr val="283E39"/>
          </a:solidFill>
          <a:ln w="19050">
            <a:solidFill>
              <a:srgbClr val="5FB3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29844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B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1527048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Estabilização 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Reengajamento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3566160" cy="2377440"/>
          </a:xfrm>
          <a:prstGeom prst="rect">
            <a:avLst/>
          </a:prstGeom>
          <a:solidFill>
            <a:srgbClr val="283E39"/>
          </a:solidFill>
          <a:ln w="12700">
            <a:solidFill>
              <a:srgbClr val="5FB3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Correção do fluxo de autenticação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424281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Campanha para as 368 pessoas inativas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5800" y="464515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Ativação de diretorias sub-rep.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504748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KPIs e painel de gestão operacional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5800" y="544982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Meta: atingir 1.000/mês em setembro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1828800"/>
            <a:ext cx="0" cy="1371600"/>
          </a:xfrm>
          <a:prstGeom prst="line">
            <a:avLst/>
          </a:prstGeom>
          <a:noFill/>
          <a:ln w="19050">
            <a:solidFill>
              <a:srgbClr val="1C6D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62472" y="3090672"/>
            <a:ext cx="219456" cy="219456"/>
          </a:xfrm>
          <a:prstGeom prst="ellipse">
            <a:avLst/>
          </a:prstGeom>
          <a:solidFill>
            <a:srgbClr val="1C6D96"/>
          </a:solidFill>
          <a:ln w="12700">
            <a:solidFill>
              <a:srgbClr val="1C6D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3383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6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– Nov 2026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1234440"/>
            <a:ext cx="3566160" cy="1920240"/>
          </a:xfrm>
          <a:prstGeom prst="rect">
            <a:avLst/>
          </a:prstGeom>
          <a:solidFill>
            <a:srgbClr val="283E39"/>
          </a:solidFill>
          <a:ln w="19050">
            <a:solidFill>
              <a:srgbClr val="1C6D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129844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6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26280" y="1527048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Proatividade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89120" y="3749040"/>
            <a:ext cx="3566160" cy="2377440"/>
          </a:xfrm>
          <a:prstGeom prst="rect">
            <a:avLst/>
          </a:prstGeom>
          <a:solidFill>
            <a:srgbClr val="283E39"/>
          </a:solidFill>
          <a:ln w="12700">
            <a:solidFill>
              <a:srgbClr val="1C6D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38404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Expansão da base de temas (&gt;40 temas)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26280" y="424281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Notificações proativas integradas ao RH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26280" y="464515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Programa de embaixadores (líderes)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26280" y="504748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Dashboard self-service por área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26280" y="544982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Meta: 1.200 atend./mês consistente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012680" y="1828800"/>
            <a:ext cx="0" cy="1371600"/>
          </a:xfrm>
          <a:prstGeom prst="line">
            <a:avLst/>
          </a:prstGeom>
          <a:noFill/>
          <a:ln w="19050">
            <a:solidFill>
              <a:srgbClr val="D6C5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02952" y="3090672"/>
            <a:ext cx="219456" cy="219456"/>
          </a:xfrm>
          <a:prstGeom prst="ellipse">
            <a:avLst/>
          </a:prstGeom>
          <a:solidFill>
            <a:srgbClr val="D6C500"/>
          </a:solidFill>
          <a:ln w="12700">
            <a:solidFill>
              <a:srgbClr val="D6C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3383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C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2026+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29600" y="1234440"/>
            <a:ext cx="3566160" cy="1920240"/>
          </a:xfrm>
          <a:prstGeom prst="rect">
            <a:avLst/>
          </a:prstGeom>
          <a:solidFill>
            <a:srgbClr val="283E39"/>
          </a:solidFill>
          <a:ln w="19050">
            <a:solidFill>
              <a:srgbClr val="D6C5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129844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C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66760" y="1527048"/>
            <a:ext cx="3337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229600" y="3749040"/>
            <a:ext cx="3566160" cy="2377440"/>
          </a:xfrm>
          <a:prstGeom prst="rect">
            <a:avLst/>
          </a:prstGeom>
          <a:solidFill>
            <a:srgbClr val="283E39"/>
          </a:solidFill>
          <a:ln w="12700">
            <a:solidFill>
              <a:srgbClr val="D6C5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66760" y="38404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IA conversacional (perguntas abertas)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366760" y="424281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Integração com sistemas RH (SAP/TOTVS)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366760" y="464515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Histórico de atendimento por colaborador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366760" y="504748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Análise preditiva de demanda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366760" y="544982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Meta: 40%+ de adoção da força de trabalho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62910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roadmap pressupõe resolução da questão de autenticação na Fase 1. Fases 2 e 3 dependem de capacidade da plataforma (fornecedor) e dos sistemas RH da empresa.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— quem faz o quê e quando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11247120" cy="0"/>
          </a:xfrm>
          <a:prstGeom prst="line">
            <a:avLst/>
          </a:prstGeom>
          <a:noFill/>
          <a:ln w="9525">
            <a:solidFill>
              <a:srgbClr val="E3E7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124712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53312"/>
            <a:ext cx="411480" cy="411480"/>
          </a:xfrm>
          <a:prstGeom prst="ellipse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533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15568" y="1188720"/>
            <a:ext cx="1508760" cy="256032"/>
          </a:xfrm>
          <a:prstGeom prst="rect">
            <a:avLst/>
          </a:prstGeom>
          <a:solidFill>
            <a:srgbClr val="E4F0EA"/>
          </a:solidFill>
          <a:ln w="6350">
            <a:solidFill>
              <a:srgbClr val="E3E7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18872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5568" y="14813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autenticação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0" y="1188720"/>
            <a:ext cx="52120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com o fornecedor da plataforma: qual % dos acessos falha na autenticação? É possível mostrar menu básico antes de autenticar?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281160" y="12070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TI + Plataforma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281160" y="1536192"/>
            <a:ext cx="2194560" cy="256032"/>
          </a:xfrm>
          <a:prstGeom prst="rect">
            <a:avLst/>
          </a:prstGeom>
          <a:solidFill>
            <a:srgbClr val="F7E7E1"/>
          </a:solidFill>
          <a:ln w="12700">
            <a:solidFill>
              <a:srgbClr val="F7E7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15361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3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121408"/>
            <a:ext cx="11247120" cy="932688"/>
          </a:xfrm>
          <a:prstGeom prst="rect">
            <a:avLst/>
          </a:prstGeom>
          <a:solidFill>
            <a:srgbClr val="F7F8F5"/>
          </a:solidFill>
          <a:ln w="9525">
            <a:solidFill>
              <a:srgbClr val="E3E7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377440"/>
            <a:ext cx="411480" cy="411480"/>
          </a:xfrm>
          <a:prstGeom prst="ellipse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115568" y="2212848"/>
            <a:ext cx="1508760" cy="256032"/>
          </a:xfrm>
          <a:prstGeom prst="rect">
            <a:avLst/>
          </a:prstGeom>
          <a:solidFill>
            <a:srgbClr val="E4F0EA"/>
          </a:solidFill>
          <a:ln w="6350">
            <a:solidFill>
              <a:srgbClr val="E3E7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221284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15568" y="250545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para 368 inativas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31920" y="2212848"/>
            <a:ext cx="52120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 lista de pessoas com acesso mas sem interação. Preparar mensagem de reengajamento com os 5 temas mais usados.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281160" y="22311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RH Analytics + Comunicação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281160" y="2560320"/>
            <a:ext cx="2194560" cy="256032"/>
          </a:xfrm>
          <a:prstGeom prst="rect">
            <a:avLst/>
          </a:prstGeom>
          <a:solidFill>
            <a:srgbClr val="E4F0EA"/>
          </a:solidFill>
          <a:ln w="12700">
            <a:solidFill>
              <a:srgbClr val="E4F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1160" y="25603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145536"/>
            <a:ext cx="1124712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3401568"/>
            <a:ext cx="411480" cy="411480"/>
          </a:xfrm>
          <a:prstGeom prst="ellipse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401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115568" y="3236976"/>
            <a:ext cx="1508760" cy="256032"/>
          </a:xfrm>
          <a:prstGeom prst="rect">
            <a:avLst/>
          </a:prstGeom>
          <a:solidFill>
            <a:srgbClr val="E4F0EA"/>
          </a:solidFill>
          <a:ln w="6350">
            <a:solidFill>
              <a:srgbClr val="E3E7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5568" y="323697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1–2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15568" y="352958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de líderes florestais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931920" y="3236976"/>
            <a:ext cx="52120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Pauta de 2 min nas reuniões de equipe + mensagem modelo para o líder replicar. 59 líderes × equipes de ~7 pessoas = alcance imediato.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281160" y="325526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GHRP Florestal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281160" y="3584448"/>
            <a:ext cx="2194560" cy="256032"/>
          </a:xfrm>
          <a:prstGeom prst="rect">
            <a:avLst/>
          </a:prstGeom>
          <a:solidFill>
            <a:srgbClr val="E4F0EA"/>
          </a:solidFill>
          <a:ln w="12700">
            <a:solidFill>
              <a:srgbClr val="E4F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81160" y="35844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169664"/>
            <a:ext cx="11247120" cy="932688"/>
          </a:xfrm>
          <a:prstGeom prst="rect">
            <a:avLst/>
          </a:prstGeom>
          <a:solidFill>
            <a:srgbClr val="F7F8F5"/>
          </a:solidFill>
          <a:ln w="9525">
            <a:solidFill>
              <a:srgbClr val="E3E7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6928" y="4425696"/>
            <a:ext cx="411480" cy="411480"/>
          </a:xfrm>
          <a:prstGeom prst="ellipse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44256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115568" y="4261104"/>
            <a:ext cx="1508760" cy="256032"/>
          </a:xfrm>
          <a:prstGeom prst="rect">
            <a:avLst/>
          </a:prstGeom>
          <a:solidFill>
            <a:srgbClr val="E4F0EA"/>
          </a:solidFill>
          <a:ln w="6350">
            <a:solidFill>
              <a:srgbClr val="E3E7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15568" y="426110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2–3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15568" y="4553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Comercial, Jurídico, TI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931920" y="4261104"/>
            <a:ext cx="52120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específica com o BP de cada área. Mostrar os dados: 12 interações no período vs potencial de 50–80/mês.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281160" y="42793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BPs de RH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281160" y="4608576"/>
            <a:ext cx="2194560" cy="256032"/>
          </a:xfrm>
          <a:prstGeom prst="rect">
            <a:avLst/>
          </a:prstGeom>
          <a:solidFill>
            <a:srgbClr val="FAF4D0"/>
          </a:solidFill>
          <a:ln w="12700">
            <a:solidFill>
              <a:srgbClr val="FAF4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81160" y="46085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5193792"/>
            <a:ext cx="1124712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6928" y="5449824"/>
            <a:ext cx="411480" cy="411480"/>
          </a:xfrm>
          <a:prstGeom prst="ellipse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54498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1115568" y="5285232"/>
            <a:ext cx="1508760" cy="256032"/>
          </a:xfrm>
          <a:prstGeom prst="rect">
            <a:avLst/>
          </a:prstGeom>
          <a:solidFill>
            <a:srgbClr val="E4F0EA"/>
          </a:solidFill>
          <a:ln w="6350">
            <a:solidFill>
              <a:srgbClr val="E3E7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15568" y="528523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3–4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115568" y="5577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KPIs operacional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931920" y="5285232"/>
            <a:ext cx="521208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painel HTML com os 5 pilares. Acompanhamento semanal pelas responsáveis de área. Meta visível: 1.000/mês.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281160" y="5303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7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RH Analytics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281160" y="5632704"/>
            <a:ext cx="2194560" cy="256032"/>
          </a:xfrm>
          <a:prstGeom prst="rect">
            <a:avLst/>
          </a:prstGeom>
          <a:solidFill>
            <a:srgbClr val="FAF4D0"/>
          </a:solidFill>
          <a:ln w="12700">
            <a:solidFill>
              <a:srgbClr val="FAF4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81160" y="563270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63276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atingir 1.000 atendimentos em setembro de 2026 e 6.000 acumulados até dezembro.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2026-08-04T20:35:05Z</dcterms:created>
  <dcterms:modified xsi:type="dcterms:W3CDTF">2026-08-04T20:35:05Z</dcterms:modified>
</cp:coreProperties>
</file>